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1" r:id="rId2"/>
    <p:sldId id="262" r:id="rId3"/>
    <p:sldId id="265" r:id="rId4"/>
    <p:sldId id="263" r:id="rId5"/>
    <p:sldId id="264" r:id="rId6"/>
    <p:sldId id="260" r:id="rId7"/>
    <p:sldId id="258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D9117E"/>
    <a:srgbClr val="5DC1FF"/>
    <a:srgbClr val="37B0FB"/>
    <a:srgbClr val="009AD0"/>
    <a:srgbClr val="94B333"/>
    <a:srgbClr val="BE9600"/>
    <a:srgbClr val="BB9301"/>
    <a:srgbClr val="E8C22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57" d="100"/>
          <a:sy n="157" d="100"/>
        </p:scale>
        <p:origin x="462" y="132"/>
      </p:cViewPr>
      <p:guideLst>
        <p:guide orient="horz" pos="2160"/>
        <p:guide pos="41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1911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3CC217A-F9D7-47C3-B542-AAA915BA4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7CD6EC-38D3-4F9F-824F-27FD60C73D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980D6-5DF0-463D-BFB7-BC7EA5530348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3B72A2-2A97-46A2-B0E6-3DFA689BB9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749A1E-B8C3-415F-AC4C-200E5AD78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9C69D-BBB7-4804-A517-DD8710202B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58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5C94-B646-4D4D-A5E3-882C7E78FF5D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8433A-3D12-444A-8A1F-2969B3EF30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61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292B943-63E8-4E1E-B31E-5FE386090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9454"/>
            <a:ext cx="9697665" cy="1141439"/>
          </a:xfr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23750"/>
            <a:ext cx="9541821" cy="3221856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B16576-B954-4493-9E58-E9C5386E81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58F85F-E39F-6DF2-648B-F85C48FB1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76295D-E20E-919F-946F-82E3A703EF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199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F87A75-3F72-6661-3C8C-5F55ECF6EF1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1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3246B2-203D-4635-9023-C83C1FB1E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2C564B2-3B65-9088-DFD7-AB7EDE92BA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48B4FDF-C91E-4E63-9070-D94BAC1B27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445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7200"/>
            <a:ext cx="10801349" cy="489585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357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E99B02-7125-B0DB-A965-82CB442B29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169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1A67A15-EB3D-B357-6153-033E99D34267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951DB75-C581-BF8A-0FC7-DF33D2FBE0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2C0EA8B-EF64-0432-2FB0-872635D2E4F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CCF2-24E5-51A8-E7D9-E053B81C2C0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8284FDF0-9695-432C-8311-6A507C0F1D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790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783FE90B-8144-4EE7-83DD-1BF890852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E07709-F5D6-04F5-13BA-175ED852645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31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1415D85-ECEE-44AA-B226-4998B44E2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424654-2778-EA1B-0192-6D8875E1171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118AD26C-52C9-4C02-983C-1ED47C3EED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1D192FC4-FD48-4D17-AF60-7541FACA3F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0DFB2603-4141-4F7E-B0B2-4354CE1418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292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lecturer, institute, date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4E12AEFA-037C-13A6-D9D9-349DFD23D7F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C38032FD-A923-4443-A1D8-3B56F7A36E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70329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10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1C20BEF9-F6A4-4E18-813E-7C7A4A89EFB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1400423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DFA15C25-778F-45D2-A70E-06F46D1BF03A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CAA27B-59B5-D915-6398-75A94668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22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5A43E47-9416-3DCC-8243-87AE52AE206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de-DE" dirty="0"/>
              <a:t>Name des Vortragenden, Institut, Datum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EB41DB-513E-D1FC-EB6E-F88FF4034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5420EE52-882B-A637-C5E2-47028BC68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1313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E4EDC0B4-4839-D67D-DEEC-401133DF66D9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560AFC3-57D0-F888-0409-6E4AE04E7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graphicFrame>
        <p:nvGraphicFramePr>
          <p:cNvPr id="5" name="Tabellenplatzhalter 7">
            <a:extLst>
              <a:ext uri="{FF2B5EF4-FFF2-40B4-BE49-F238E27FC236}">
                <a16:creationId xmlns:a16="http://schemas.microsoft.com/office/drawing/2014/main" id="{0D05A9C7-78D0-EE06-3C91-0B44CAD5C348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173544782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414B1055-33F2-706A-B987-AD219F01C4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3" name="Foliennummernplatzhalter 6">
            <a:extLst>
              <a:ext uri="{FF2B5EF4-FFF2-40B4-BE49-F238E27FC236}">
                <a16:creationId xmlns:a16="http://schemas.microsoft.com/office/drawing/2014/main" id="{64DEE5FA-1A0F-5F55-0896-0246BC7D6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Fußzeilenplatzhalter 3">
            <a:extLst>
              <a:ext uri="{FF2B5EF4-FFF2-40B4-BE49-F238E27FC236}">
                <a16:creationId xmlns:a16="http://schemas.microsoft.com/office/drawing/2014/main" id="{EC8C11A2-D458-BDE8-F2BF-ADAFB418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 dirty="0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6806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43B56E86-EFEB-4205-AA4A-9F3E82413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3209"/>
            <a:ext cx="9697665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lnSpc>
                <a:spcPct val="100000"/>
              </a:lnSpc>
              <a:spcBef>
                <a:spcPts val="1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4066C5-F371-4079-BEC5-D83B78D0C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05F074-4978-BB63-F797-D5FCF9961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09CECA-60EA-35F9-5F27-CF64A7C897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4685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AF35D6C1-0699-3B81-DD6A-0016F7A8D7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FBA6571-CE1B-47EB-8C1E-D5A1391EAE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2C7237-52B1-CB5D-D118-2836DC556E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F1FF6555-F43F-4F6F-8557-7775ED911D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4226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4300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263446-0FBB-7B9F-7376-C85F4725E6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9630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B571AC-F556-C50A-DAD2-4638503AA73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43C99AA0-30B9-CB68-5447-173C21DF9A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E5E99BBD-0EE1-272A-B9CD-BB38CD6536A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160246-4126-D54D-D8F2-4EA413129C1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2E4B575B-830B-4042-B5E3-854ED6742E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51263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B0949BCE-540C-4310-9432-ECBCD4F9E8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C8D3D5-3F24-32BA-B9E4-6239FD09AA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4738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A1BCFDDC-E704-4456-842B-CA12D08661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38C3D2-DF70-153A-B8DF-4CECDC0728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3D74F0FA-8F68-4378-8DBC-19E1F6A0E5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8D0D31E6-199E-4219-A707-84C3133E30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3B652E60-BB22-4CDC-B46E-3983789A55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0049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6FFF96C-003A-2C95-0C20-6A5ECF67AE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2C0F5C3-8222-0817-ECCA-D675DF1CE7E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A4678D57-D387-497F-BE8F-CC4BED8016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743913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1EFB8F-681F-B958-6016-DE1F84F28F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5776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0D3ABB45-EB62-4087-B3EF-39BEE25E708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562190330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3D336417-AA09-48C9-BDF2-558668A9C82D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07347F-35E4-52BE-8323-09918044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0633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16133B2B-12C4-FE1C-E575-FCC33EDD08E8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8C0A269-0A22-1F24-8A6F-92CF83B25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1D6C117F-FFC7-BDD4-24D7-796BC82D0E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de-DE" dirty="0"/>
              <a:t>Name des Vortragenden, Institut, Datum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7A68C062-180C-99B8-FA50-EA5C79290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04735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D7E6995-96CC-3982-D5B2-C86FEE3250A0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D4835C53-91E7-6F9B-B923-BC1D5AC13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B2529C76-0D8A-EF87-45E6-0ADDE5F1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71F05D1-9FC5-816E-FCE9-742956FC2E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itel 4">
            <a:extLst>
              <a:ext uri="{FF2B5EF4-FFF2-40B4-BE49-F238E27FC236}">
                <a16:creationId xmlns:a16="http://schemas.microsoft.com/office/drawing/2014/main" id="{E6EC0CBA-DCD5-B2B0-E997-0F914B7AC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graphicFrame>
        <p:nvGraphicFramePr>
          <p:cNvPr id="13" name="Tabellenplatzhalter 7">
            <a:extLst>
              <a:ext uri="{FF2B5EF4-FFF2-40B4-BE49-F238E27FC236}">
                <a16:creationId xmlns:a16="http://schemas.microsoft.com/office/drawing/2014/main" id="{E4A06E74-DBC5-BFB5-A583-5D6E319BBD4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95061288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2679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A1DD6DF-B176-485D-B01F-0D026F51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3208"/>
            <a:ext cx="9697665" cy="1141439"/>
          </a:xfrm>
          <a:solidFill>
            <a:srgbClr val="BE9600">
              <a:alpha val="80000"/>
            </a:srgb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79A18D-BDEC-4A1A-B4E8-0BBF0FB0A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338560D-8EC4-B53A-7006-5B5A972DC7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945"/>
            <a:ext cx="4114800" cy="257774"/>
          </a:xfrm>
        </p:spPr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02EDA2-8AA2-0466-B051-008CD7764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33665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">
            <a:extLst>
              <a:ext uri="{FF2B5EF4-FFF2-40B4-BE49-F238E27FC236}">
                <a16:creationId xmlns:a16="http://schemas.microsoft.com/office/drawing/2014/main" id="{A29A4717-2733-B1CC-C548-EE7EB957DA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rgbClr val="BE9600">
              <a:alpha val="80000"/>
            </a:srgb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24BD797-BDE4-4F8B-BD63-88445F304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C9E1831-352F-2D39-ACE5-21BCE2855B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320569E-7EBB-42F9-B989-19AC2BA590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5286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33920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07BD53-6A79-8877-2BE1-B0C49A39BD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62905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4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187CB7-2C33-1C03-52A8-8996E6753E4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56228A2-CAF9-B1A1-1C97-DA91AB6BED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CA1CEBC5-E31D-F865-99F9-F5B2C3A4B1C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1A145E-844F-C173-0E1A-4D5807A9AB0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20E4FEBA-B0DE-4B79-99F8-C969B4E3A9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33508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59E7F815-FED3-4D8F-9D9B-35CCAF3B26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093030-8FCB-CEE5-FAC4-DF786DEBF90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30136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9D0FAF78-2A5F-4E8E-B1EE-D7C4255495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09EDA4-178A-19BE-891D-96E3D2B19D2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4CA3CBF-84EB-43B9-A448-AE66CF1B19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8648652F-2A78-4696-BEDF-2827E67835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4D0E809D-C311-4031-A613-368FF399A7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84789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05F4847-2276-AAFB-108E-DBA5E7360C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BE329DB-A001-C66F-6040-0E345285523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935316FE-8476-4572-87B2-B715CCF583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16546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0E2FA4-B336-450E-D6C0-FA99C883B4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73541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7" name="Tabellenplatzhalter 7">
            <a:extLst>
              <a:ext uri="{FF2B5EF4-FFF2-40B4-BE49-F238E27FC236}">
                <a16:creationId xmlns:a16="http://schemas.microsoft.com/office/drawing/2014/main" id="{215C28A5-80CD-4F42-9C77-C690E11449E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926700702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598141AE-B519-4BF8-86A2-54973B0ADDE5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75B4983-3911-6B34-D420-98DD812B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41664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14E77E2-5257-225C-6093-789249091B8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1913AF20-2093-81B8-D3CF-3988C0D0E2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de-DE"/>
              <a:t>Name des Vortragenden, Institut, Datum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601CA69-20CF-6A99-B9FF-A1A445743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9AA2D8C-E67C-1DBB-33C4-8FC8AE2C9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412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0B2BD55-0944-2EB8-30AE-4EC0EBD1C778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8E332830-1B76-0834-BFD4-B0A738EACD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392DD0-9A3C-88DC-7FA4-612131847E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Fußzeilenplatzhalter 3">
            <a:extLst>
              <a:ext uri="{FF2B5EF4-FFF2-40B4-BE49-F238E27FC236}">
                <a16:creationId xmlns:a16="http://schemas.microsoft.com/office/drawing/2014/main" id="{8A8560D2-D042-38FC-1DF9-D8044861589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12" name="Titel 4">
            <a:extLst>
              <a:ext uri="{FF2B5EF4-FFF2-40B4-BE49-F238E27FC236}">
                <a16:creationId xmlns:a16="http://schemas.microsoft.com/office/drawing/2014/main" id="{14023C8A-8B07-0D4C-F346-2C1B9789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graphicFrame>
        <p:nvGraphicFramePr>
          <p:cNvPr id="13" name="Tabellenplatzhalter 7">
            <a:extLst>
              <a:ext uri="{FF2B5EF4-FFF2-40B4-BE49-F238E27FC236}">
                <a16:creationId xmlns:a16="http://schemas.microsoft.com/office/drawing/2014/main" id="{C345DDFB-6457-0140-C751-BBDEB3109C3B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088028885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7259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/Fullscree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2">
            <a:extLst>
              <a:ext uri="{FF2B5EF4-FFF2-40B4-BE49-F238E27FC236}">
                <a16:creationId xmlns:a16="http://schemas.microsoft.com/office/drawing/2014/main" id="{C2226DF2-778A-4612-9F78-6765D18406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12192001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87F97911-DA70-4C70-822A-1814FBD79C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7EBD16-097C-4A05-9018-8E300558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7813AC-780E-0FEE-8DD2-961C8464CAC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8395D497-4BD0-4044-AB65-1F72BFD0F1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347327" y="396547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205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21C0A-576F-4448-A405-945F7FE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A8A30-87AB-49C6-AE8C-F7B24CEC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96809-C3E5-439C-AF0A-E75CD81D7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822AB-459F-739F-855B-F69C7435C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544945"/>
            <a:ext cx="4114800" cy="257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Name of lecturer, institute, date</a:t>
            </a:r>
            <a:endParaRPr lang="de-DE" dirty="0"/>
          </a:p>
        </p:txBody>
      </p:sp>
      <p:pic>
        <p:nvPicPr>
          <p:cNvPr id="7" name="Grafik 6" descr="Ein Bild, das Farbigkeit, Quadrat, Rechteck, Screenshot enthält.&#10;&#10;Automatisch generierte Beschreibung">
            <a:extLst>
              <a:ext uri="{FF2B5EF4-FFF2-40B4-BE49-F238E27FC236}">
                <a16:creationId xmlns:a16="http://schemas.microsoft.com/office/drawing/2014/main" id="{B6B2436D-6F14-4C91-9F38-9FC66CBDB854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-4412343" y="1874995"/>
            <a:ext cx="4101329" cy="324968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AEA2B8E-DD3B-4F4F-AFD8-DBE8E57FC574}"/>
              </a:ext>
            </a:extLst>
          </p:cNvPr>
          <p:cNvSpPr txBox="1"/>
          <p:nvPr userDrawn="1"/>
        </p:nvSpPr>
        <p:spPr>
          <a:xfrm>
            <a:off x="-4412343" y="1309144"/>
            <a:ext cx="4101329" cy="430887"/>
          </a:xfrm>
          <a:prstGeom prst="rect">
            <a:avLst/>
          </a:prstGeom>
          <a:solidFill>
            <a:srgbClr val="FF3399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b="1" i="0" baseline="0" dirty="0">
                <a:solidFill>
                  <a:schemeClr val="bg1"/>
                </a:solidFill>
              </a:rPr>
              <a:t>Select DLR-</a:t>
            </a:r>
            <a:r>
              <a:rPr lang="de-DE" sz="1400" b="1" i="0" baseline="0" dirty="0" err="1">
                <a:solidFill>
                  <a:schemeClr val="bg1"/>
                </a:solidFill>
              </a:rPr>
              <a:t>colours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below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with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de-DE" sz="1400" b="1" i="0" baseline="0" dirty="0" err="1">
                <a:solidFill>
                  <a:schemeClr val="bg1"/>
                </a:solidFill>
              </a:rPr>
              <a:t>the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eyepopper</a:t>
            </a:r>
            <a:r>
              <a:rPr lang="de-DE" sz="1400" b="1" i="0" baseline="0" dirty="0">
                <a:solidFill>
                  <a:schemeClr val="bg1"/>
                </a:solidFill>
              </a:rPr>
              <a:t>/</a:t>
            </a:r>
            <a:r>
              <a:rPr lang="de-DE" sz="1400" b="1" i="0" baseline="0" dirty="0" err="1">
                <a:solidFill>
                  <a:schemeClr val="bg1"/>
                </a:solidFill>
              </a:rPr>
              <a:t>color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picker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tool</a:t>
            </a:r>
            <a:endParaRPr lang="de-CR" sz="1400" b="1" i="0" baseline="0" dirty="0">
              <a:solidFill>
                <a:schemeClr val="bg1"/>
              </a:solidFill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EF3CE64-FA21-4F63-B986-1358806923EF}"/>
              </a:ext>
            </a:extLst>
          </p:cNvPr>
          <p:cNvGrpSpPr/>
          <p:nvPr userDrawn="1"/>
        </p:nvGrpSpPr>
        <p:grpSpPr>
          <a:xfrm>
            <a:off x="12572057" y="4849"/>
            <a:ext cx="9360000" cy="5796000"/>
            <a:chOff x="12572057" y="4849"/>
            <a:chExt cx="9360000" cy="5796000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1ABC1C5C-A5DA-4EB3-B01E-8D75036C5553}"/>
                </a:ext>
              </a:extLst>
            </p:cNvPr>
            <p:cNvSpPr/>
            <p:nvPr/>
          </p:nvSpPr>
          <p:spPr>
            <a:xfrm>
              <a:off x="12572057" y="4849"/>
              <a:ext cx="9360000" cy="5796000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R"/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1925FDB-4FD6-4DDA-A197-927C63A89427}"/>
                </a:ext>
              </a:extLst>
            </p:cNvPr>
            <p:cNvSpPr txBox="1"/>
            <p:nvPr/>
          </p:nvSpPr>
          <p:spPr>
            <a:xfrm>
              <a:off x="12724457" y="157246"/>
              <a:ext cx="61098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Editing the header and footer</a:t>
              </a:r>
              <a:endParaRPr lang="de-CR" dirty="0">
                <a:solidFill>
                  <a:schemeClr val="bg1"/>
                </a:solidFill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3DB58BC-7CAE-441F-B4EF-916243E1A37C}"/>
                </a:ext>
              </a:extLst>
            </p:cNvPr>
            <p:cNvSpPr txBox="1"/>
            <p:nvPr/>
          </p:nvSpPr>
          <p:spPr>
            <a:xfrm>
              <a:off x="12724457" y="792337"/>
              <a:ext cx="65465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Menu: "Insert" &gt; "Header and Footer" (see screenshot 1)</a:t>
              </a:r>
              <a:endParaRPr lang="de-DE" sz="1600" dirty="0">
                <a:solidFill>
                  <a:schemeClr val="bg1"/>
                </a:solidFill>
              </a:endParaRPr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CDABBF1B-88D5-43FA-9657-57AD29E3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15486" y="1481782"/>
              <a:ext cx="8779602" cy="920638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FE2F1701-2827-40C9-AB97-84473EB4C5E8}"/>
                </a:ext>
              </a:extLst>
            </p:cNvPr>
            <p:cNvSpPr txBox="1"/>
            <p:nvPr/>
          </p:nvSpPr>
          <p:spPr>
            <a:xfrm>
              <a:off x="12724457" y="1195691"/>
              <a:ext cx="50461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1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66F1CB0C-3FC9-4850-A700-E0D2CFB1DD44}"/>
                </a:ext>
              </a:extLst>
            </p:cNvPr>
            <p:cNvSpPr txBox="1"/>
            <p:nvPr/>
          </p:nvSpPr>
          <p:spPr>
            <a:xfrm>
              <a:off x="12724457" y="2947698"/>
              <a:ext cx="4307945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Adapt the input dialog to your individual needs and confirm the input by clicking the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"Apply to all" button if the change is to be made globally for all slides. </a:t>
              </a:r>
            </a:p>
            <a:p>
              <a:r>
                <a:rPr lang="en-US" sz="1600" dirty="0">
                  <a:solidFill>
                    <a:schemeClr val="bg1"/>
                  </a:solidFill>
                </a:rPr>
                <a:t>In case of partial change of single slides,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you have to confirm with the button "Apply".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(see screenshot 2)</a:t>
              </a:r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480B5319-4E69-430D-B813-478C6A3B34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5" t="4215" r="3045" b="3447"/>
            <a:stretch/>
          </p:blipFill>
          <p:spPr>
            <a:xfrm>
              <a:off x="17586852" y="2997154"/>
              <a:ext cx="4008235" cy="2547966"/>
            </a:xfrm>
            <a:prstGeom prst="rect">
              <a:avLst/>
            </a:prstGeom>
          </p:spPr>
        </p:pic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400701A2-BA4C-4126-8F58-5C36702060D0}"/>
                </a:ext>
              </a:extLst>
            </p:cNvPr>
            <p:cNvSpPr txBox="1"/>
            <p:nvPr/>
          </p:nvSpPr>
          <p:spPr>
            <a:xfrm>
              <a:off x="17498074" y="2750933"/>
              <a:ext cx="40970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2</a:t>
              </a:r>
            </a:p>
          </p:txBody>
        </p:sp>
        <p:sp>
          <p:nvSpPr>
            <p:cNvPr id="38" name="Ellipse 7">
              <a:extLst>
                <a:ext uri="{FF2B5EF4-FFF2-40B4-BE49-F238E27FC236}">
                  <a16:creationId xmlns:a16="http://schemas.microsoft.com/office/drawing/2014/main" id="{CB9D128F-6D13-4928-9A40-72234AD082DD}"/>
                </a:ext>
              </a:extLst>
            </p:cNvPr>
            <p:cNvSpPr/>
            <p:nvPr/>
          </p:nvSpPr>
          <p:spPr>
            <a:xfrm>
              <a:off x="17713206" y="1790425"/>
              <a:ext cx="589273" cy="561923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72438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72" r:id="rId4"/>
    <p:sldLayoutId id="2147483674" r:id="rId5"/>
    <p:sldLayoutId id="2147483656" r:id="rId6"/>
    <p:sldLayoutId id="2147483653" r:id="rId7"/>
    <p:sldLayoutId id="2147483680" r:id="rId8"/>
    <p:sldLayoutId id="2147483654" r:id="rId9"/>
    <p:sldLayoutId id="2147483679" r:id="rId10"/>
    <p:sldLayoutId id="2147483686" r:id="rId11"/>
    <p:sldLayoutId id="2147483683" r:id="rId12"/>
    <p:sldLayoutId id="2147483662" r:id="rId13"/>
    <p:sldLayoutId id="2147483658" r:id="rId14"/>
    <p:sldLayoutId id="2147483663" r:id="rId15"/>
    <p:sldLayoutId id="2147483671" r:id="rId16"/>
    <p:sldLayoutId id="2147483675" r:id="rId17"/>
    <p:sldLayoutId id="2147483664" r:id="rId18"/>
    <p:sldLayoutId id="2147483665" r:id="rId19"/>
    <p:sldLayoutId id="2147483681" r:id="rId20"/>
    <p:sldLayoutId id="2147483670" r:id="rId21"/>
    <p:sldLayoutId id="2147483678" r:id="rId22"/>
    <p:sldLayoutId id="2147483687" r:id="rId23"/>
    <p:sldLayoutId id="2147483684" r:id="rId24"/>
    <p:sldLayoutId id="2147483661" r:id="rId25"/>
    <p:sldLayoutId id="2147483659" r:id="rId26"/>
    <p:sldLayoutId id="2147483667" r:id="rId27"/>
    <p:sldLayoutId id="2147483673" r:id="rId28"/>
    <p:sldLayoutId id="2147483676" r:id="rId29"/>
    <p:sldLayoutId id="2147483668" r:id="rId30"/>
    <p:sldLayoutId id="2147483669" r:id="rId31"/>
    <p:sldLayoutId id="2147483682" r:id="rId32"/>
    <p:sldLayoutId id="2147483666" r:id="rId33"/>
    <p:sldLayoutId id="2147483677" r:id="rId34"/>
    <p:sldLayoutId id="2147483688" r:id="rId35"/>
    <p:sldLayoutId id="2147483685" r:id="rId36"/>
    <p:sldLayoutId id="2147483655" r:id="rId3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orient="horz" pos="210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1026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orient="horz" pos="9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2AA1682-C2EA-02BA-7471-BFD5B4E8CF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Malte Wegener, Boris Diskin, Dimitry Kamenetsky, Mike Park, Axel Schwöppe, Mohamed </a:t>
            </a:r>
            <a:r>
              <a:rPr lang="en-US" dirty="0" err="1"/>
              <a:t>Sereez</a:t>
            </a:r>
            <a:r>
              <a:rPr lang="en-US" dirty="0"/>
              <a:t>, 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008CB9-0DA4-B5A9-245C-0BAC996D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RANS: Evidence for Multiple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40F0F-B3AD-B63D-CC30-57EBC6F739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2F2BE-7B0D-EE80-B2CE-4FAFE5CD2B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324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6A8B-BB90-F81F-32A1-6112FEA2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in 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EF128-9843-4FC0-EE66-068941EF8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7200"/>
            <a:ext cx="5498211" cy="4895850"/>
          </a:xfrm>
        </p:spPr>
        <p:txBody>
          <a:bodyPr/>
          <a:lstStyle/>
          <a:p>
            <a:r>
              <a:rPr lang="en-US" dirty="0"/>
              <a:t>In the linear region most results compare quite well</a:t>
            </a:r>
          </a:p>
          <a:p>
            <a:r>
              <a:rPr lang="en-US" dirty="0"/>
              <a:t>At the near stall region there is a large spread between different solvers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A9EFB-C659-FA6B-D176-565260891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71FB6-83B3-5C02-F426-EEE7799F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7C29EF-6DEB-0D87-5324-69BE0BD70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093" y="1403330"/>
            <a:ext cx="5498211" cy="4887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82989A-7175-46C8-3526-935D73F5078C}"/>
              </a:ext>
            </a:extLst>
          </p:cNvPr>
          <p:cNvSpPr txBox="1"/>
          <p:nvPr/>
        </p:nvSpPr>
        <p:spPr>
          <a:xfrm>
            <a:off x="7468712" y="4869895"/>
            <a:ext cx="3974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3445647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6BE50-5082-AA0C-27D5-EB0114C8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in 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8719-B1C9-BB52-54DF-EB7A014E2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5742051" cy="3379007"/>
          </a:xfrm>
        </p:spPr>
        <p:txBody>
          <a:bodyPr/>
          <a:lstStyle/>
          <a:p>
            <a:r>
              <a:rPr lang="en-US" dirty="0"/>
              <a:t>This was also observed for previous Workshops</a:t>
            </a:r>
          </a:p>
          <a:p>
            <a:r>
              <a:rPr lang="en-US" dirty="0"/>
              <a:t>Multiple different solutions for the same test case between different solvers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0D790-94DC-22AD-BC22-17134926F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6ECFA-DC41-BBC8-9980-F30B06B3CD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6149377" cy="1278857"/>
          </a:xfrm>
        </p:spPr>
        <p:txBody>
          <a:bodyPr/>
          <a:lstStyle/>
          <a:p>
            <a:r>
              <a:rPr lang="en-US" dirty="0"/>
              <a:t>Is the spread between solvers a sign of the non-uniqueness of the RANS equations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972BB-C27A-47C4-0567-47E6737539E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5012A7-1648-6292-3DCC-3D7541E93F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950"/>
          <a:stretch/>
        </p:blipFill>
        <p:spPr>
          <a:xfrm>
            <a:off x="6743465" y="1318661"/>
            <a:ext cx="4753209" cy="4459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E0E3AB-657C-969B-9636-16160BEDFA7D}"/>
              </a:ext>
            </a:extLst>
          </p:cNvPr>
          <p:cNvSpPr txBox="1"/>
          <p:nvPr/>
        </p:nvSpPr>
        <p:spPr>
          <a:xfrm>
            <a:off x="8195777" y="5746696"/>
            <a:ext cx="18485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HLPW5 Summary slides</a:t>
            </a:r>
          </a:p>
        </p:txBody>
      </p:sp>
    </p:spTree>
    <p:extLst>
      <p:ext uri="{BB962C8B-B14F-4D97-AF65-F5344CB8AC3E}">
        <p14:creationId xmlns:p14="http://schemas.microsoft.com/office/powerpoint/2010/main" val="242861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E67C-5737-DA4A-972E-0BC0A218E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convergence at 25 degrees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FEDD7-7E9F-689A-E6E3-3D8CACEEF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6" y="1627200"/>
            <a:ext cx="4859624" cy="4895850"/>
          </a:xfrm>
        </p:spPr>
        <p:txBody>
          <a:bodyPr/>
          <a:lstStyle/>
          <a:p>
            <a:r>
              <a:rPr lang="en-US" dirty="0"/>
              <a:t>Two clusters of solutions can be identified for 25 degrees</a:t>
            </a:r>
          </a:p>
          <a:p>
            <a:r>
              <a:rPr lang="en-US" dirty="0"/>
              <a:t>Even though more solutions exist for the high-lift solution, the spread between different codes is similar for both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C324B-7B8D-6546-ACDE-DC8D9DA92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0599F-A936-C267-D90F-DD2316DE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3588A6-C0DF-CDCB-1694-47EF6CE72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949" y="1318661"/>
            <a:ext cx="5612923" cy="4989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C59866-38E0-C29E-751C-1906C697EC4F}"/>
              </a:ext>
            </a:extLst>
          </p:cNvPr>
          <p:cNvSpPr txBox="1"/>
          <p:nvPr/>
        </p:nvSpPr>
        <p:spPr>
          <a:xfrm>
            <a:off x="6851904" y="3700272"/>
            <a:ext cx="3974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337640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CD359-B654-41FE-51DC-72F20532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Alpha-continuation from perturbed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E96BA-00CD-1753-5D1B-00AA2538C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7200"/>
            <a:ext cx="3763379" cy="4895850"/>
          </a:xfrm>
        </p:spPr>
        <p:txBody>
          <a:bodyPr/>
          <a:lstStyle/>
          <a:p>
            <a:r>
              <a:rPr lang="en-US" dirty="0"/>
              <a:t>Multiple solutions can be found by perturbing the solver</a:t>
            </a:r>
          </a:p>
          <a:p>
            <a:r>
              <a:rPr lang="en-US" dirty="0"/>
              <a:t>These solutions can be continued by alpha-continuation</a:t>
            </a:r>
          </a:p>
          <a:p>
            <a:r>
              <a:rPr lang="en-US" dirty="0"/>
              <a:t>Switching between branches occurs suddenly and irregularly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96E84-B8BC-E824-1A52-5E3AB5563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7C789-9F9A-4855-EA45-55B339C2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D3BD52-201C-9561-E278-401F30719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" t="1373" r="1182" b="1767"/>
          <a:stretch/>
        </p:blipFill>
        <p:spPr>
          <a:xfrm>
            <a:off x="4718303" y="1133855"/>
            <a:ext cx="6033115" cy="53141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859D31-FC79-CD57-2BB8-F6F93E714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303" y="4075125"/>
            <a:ext cx="1305466" cy="1160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4C2F29-0C55-CB9B-E417-9348CF61C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365" y="4181879"/>
            <a:ext cx="1305466" cy="1160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F1A6E4-A2CF-E419-FFE6-24EE5D012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516" y="694472"/>
            <a:ext cx="1305466" cy="11605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EAE7DD-A90E-C1E0-45E6-CFC6725091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9759" y="563354"/>
            <a:ext cx="1305466" cy="116052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CBFC34-AC63-1C91-4000-73F54E88031F}"/>
              </a:ext>
            </a:extLst>
          </p:cNvPr>
          <p:cNvCxnSpPr>
            <a:cxnSpLocks/>
          </p:cNvCxnSpPr>
          <p:nvPr/>
        </p:nvCxnSpPr>
        <p:spPr>
          <a:xfrm flipV="1">
            <a:off x="8918448" y="3541776"/>
            <a:ext cx="219456" cy="6035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DE812DC-A3AD-96B9-CAB7-E5F977F6A222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9893808" y="3675888"/>
            <a:ext cx="470228" cy="399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93D99B-1BD5-275A-7128-1516C3E80BDF}"/>
              </a:ext>
            </a:extLst>
          </p:cNvPr>
          <p:cNvCxnSpPr>
            <a:cxnSpLocks/>
          </p:cNvCxnSpPr>
          <p:nvPr/>
        </p:nvCxnSpPr>
        <p:spPr>
          <a:xfrm flipH="1">
            <a:off x="9648493" y="1723874"/>
            <a:ext cx="479248" cy="8004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83BA28-9EB1-B111-0CFC-0469B5D4097D}"/>
              </a:ext>
            </a:extLst>
          </p:cNvPr>
          <p:cNvCxnSpPr>
            <a:cxnSpLocks/>
          </p:cNvCxnSpPr>
          <p:nvPr/>
        </p:nvCxnSpPr>
        <p:spPr>
          <a:xfrm>
            <a:off x="8918448" y="1854992"/>
            <a:ext cx="0" cy="2797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606EC5AE-FDA0-05DF-BE5B-2DA441D73D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748" y="2855356"/>
            <a:ext cx="1328235" cy="137284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1828878-2D70-2DC3-2DEB-6304EAD8D725}"/>
              </a:ext>
            </a:extLst>
          </p:cNvPr>
          <p:cNvCxnSpPr>
            <a:cxnSpLocks/>
          </p:cNvCxnSpPr>
          <p:nvPr/>
        </p:nvCxnSpPr>
        <p:spPr>
          <a:xfrm flipV="1">
            <a:off x="7262966" y="3142832"/>
            <a:ext cx="1655482" cy="3700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9798D5D0-B9BD-76F8-D832-47F2197C3B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855" y="2458617"/>
            <a:ext cx="1288004" cy="1331258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4225442-5ADC-E238-CF2A-0F6FED70987C}"/>
              </a:ext>
            </a:extLst>
          </p:cNvPr>
          <p:cNvCxnSpPr>
            <a:cxnSpLocks/>
          </p:cNvCxnSpPr>
          <p:nvPr/>
        </p:nvCxnSpPr>
        <p:spPr>
          <a:xfrm flipH="1" flipV="1">
            <a:off x="9648493" y="3059107"/>
            <a:ext cx="993598" cy="100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745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8B93C-779D-BAFE-9C2F-FB2335C4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Take-aways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FA6A7-31D8-B59F-3C30-55ADBBE2E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>
              <a:spcAft>
                <a:spcPts val="0"/>
              </a:spcAft>
            </a:pPr>
            <a:r>
              <a:rPr lang="en-US" b="1" dirty="0"/>
              <a:t>The multiple solutions obtained for the TC-1 configuration are consistent between different solvers over different grid families and from examining their grid convergence behavior none of the solutions can be identified as the “correct” solution.</a:t>
            </a:r>
          </a:p>
          <a:p>
            <a:pPr marR="0">
              <a:spcAft>
                <a:spcPts val="0"/>
              </a:spcAft>
            </a:pPr>
            <a:r>
              <a:rPr lang="en-US" dirty="0"/>
              <a:t>Switching between solution branches happens randomly and participants report different sensitivities</a:t>
            </a:r>
          </a:p>
          <a:p>
            <a:pPr lvl="1"/>
            <a:r>
              <a:rPr lang="en-US" dirty="0"/>
              <a:t>Numerical dissipation</a:t>
            </a:r>
          </a:p>
          <a:p>
            <a:pPr lvl="1"/>
            <a:r>
              <a:rPr lang="en-US" dirty="0"/>
              <a:t>Turbulence model</a:t>
            </a:r>
          </a:p>
          <a:p>
            <a:pPr lvl="1"/>
            <a:r>
              <a:rPr lang="en-US" dirty="0"/>
              <a:t>Geometric variation</a:t>
            </a:r>
          </a:p>
          <a:p>
            <a:pPr lvl="1"/>
            <a:r>
              <a:rPr lang="en-US" dirty="0"/>
              <a:t>Mesh variation</a:t>
            </a:r>
          </a:p>
          <a:p>
            <a:r>
              <a:rPr lang="en-US" dirty="0"/>
              <a:t>Multiple solutions can be found through a combination of these perturbations of the solver and alpha-continuation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35564-C49D-962D-1103-DDEB61C98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D154B-87CD-1C13-9743-8FF2B116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lecturer, institute, 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321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630F-32B8-6C5E-2251-0A881C8B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 (for a Vision) for dealing with multiple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9B50-A758-C2CC-9DFD-48847A0EB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6"/>
            <a:ext cx="5400675" cy="3705100"/>
          </a:xfrm>
        </p:spPr>
        <p:txBody>
          <a:bodyPr/>
          <a:lstStyle/>
          <a:p>
            <a:r>
              <a:rPr lang="en-US" dirty="0"/>
              <a:t>Is there a physical condition these pizza slice solutions violate?</a:t>
            </a:r>
          </a:p>
          <a:p>
            <a:pPr lvl="1"/>
            <a:r>
              <a:rPr lang="en-US" dirty="0"/>
              <a:t>Can this condition be incorporated into the solution process as a constraint</a:t>
            </a:r>
          </a:p>
          <a:p>
            <a:pPr lvl="1"/>
            <a:r>
              <a:rPr lang="en-US" dirty="0"/>
              <a:t>Similar to how the entropy-fix in the Roe scheme prevents unphysical expansion shocks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42642-807E-C01A-A1C9-71063C3B8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44493A-7327-8176-D322-A7B09DA7C8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Physical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F4FB1-0088-8135-0F25-C60A6B2597F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Name of lecturer, institute, date</a:t>
            </a:r>
            <a:endParaRPr lang="de-D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22EFF2-FAE5-B2CF-630E-8C29383829FF}"/>
              </a:ext>
            </a:extLst>
          </p:cNvPr>
          <p:cNvSpPr txBox="1">
            <a:spLocks/>
          </p:cNvSpPr>
          <p:nvPr/>
        </p:nvSpPr>
        <p:spPr>
          <a:xfrm>
            <a:off x="6096000" y="2095626"/>
            <a:ext cx="5400675" cy="37051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Can the N strongest attractors of the multiple solutions be found systematically?</a:t>
            </a:r>
          </a:p>
          <a:p>
            <a:r>
              <a:rPr lang="en-US" dirty="0"/>
              <a:t>Can a regularization of the path that is taken through state-space be made such that the initial condition remains the strongest attractor?</a:t>
            </a:r>
          </a:p>
          <a:p>
            <a:r>
              <a:rPr lang="en-US" dirty="0"/>
              <a:t>Can regions be identified which need to be sufficiently fine such that the initial condition is remains the strongest attractor</a:t>
            </a:r>
          </a:p>
          <a:p>
            <a:r>
              <a:rPr lang="en-US" dirty="0"/>
              <a:t>There is no way to label any of the solutions as the best solution and we want to find all solutions and not exclude all but one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022D527-E06E-95A2-347D-23C105B453DA}"/>
              </a:ext>
            </a:extLst>
          </p:cNvPr>
          <p:cNvSpPr txBox="1">
            <a:spLocks/>
          </p:cNvSpPr>
          <p:nvPr/>
        </p:nvSpPr>
        <p:spPr>
          <a:xfrm>
            <a:off x="6096000" y="1487788"/>
            <a:ext cx="3482038" cy="439824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Numerical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1FB6D5-B395-47B6-5FCA-F4523AB6837E}"/>
              </a:ext>
            </a:extLst>
          </p:cNvPr>
          <p:cNvSpPr/>
          <p:nvPr/>
        </p:nvSpPr>
        <p:spPr>
          <a:xfrm>
            <a:off x="695324" y="5734050"/>
            <a:ext cx="10677525" cy="790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This is a highly cross-topic problem that can only be solved cross topic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59201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u 1">
      <a:srgbClr val="00658B"/>
    </a:custClr>
    <a:custClr name="Blau 2">
      <a:srgbClr val="3B98CB"/>
    </a:custClr>
    <a:custClr name="Blau 3">
      <a:srgbClr val="6CB9DC"/>
    </a:custClr>
    <a:custClr name="Blau 4">
      <a:srgbClr val="A7D3EC"/>
    </a:custClr>
    <a:custClr name="Blau 5">
      <a:srgbClr val="D1E8FA"/>
    </a:custClr>
    <a:custClr name="Gelb 1">
      <a:srgbClr val="D2AE3D"/>
    </a:custClr>
    <a:custClr name="Gelb 2">
      <a:srgbClr val="F2CD51"/>
    </a:custClr>
    <a:custClr name="Gelb 3">
      <a:srgbClr val="F8DE53"/>
    </a:custClr>
    <a:custClr name="Gelb 4">
      <a:srgbClr val="FCEA7A"/>
    </a:custClr>
    <a:custClr name="Gelb 5">
      <a:srgbClr val="FFF8BE"/>
    </a:custClr>
    <a:custClr name="Grün 1">
      <a:srgbClr val="82A043"/>
    </a:custClr>
    <a:custClr name="Grün 2">
      <a:srgbClr val="A6BF51"/>
    </a:custClr>
    <a:custClr name="Grün 3">
      <a:srgbClr val="CAD55C"/>
    </a:custClr>
    <a:custClr name="Grün 4">
      <a:srgbClr val="D9DF78"/>
    </a:custClr>
    <a:custClr name="Grün 5">
      <a:srgbClr val="E6EAAF"/>
    </a:custClr>
    <a:custClr name="Grau 1">
      <a:srgbClr val="666666"/>
    </a:custClr>
    <a:custClr name="Grau 2">
      <a:srgbClr val="868585"/>
    </a:custClr>
    <a:custClr name="Grau 3">
      <a:srgbClr val="B1B1B1"/>
    </a:custClr>
    <a:custClr name="Grau 4">
      <a:srgbClr val="CFCFCF"/>
    </a:custClr>
    <a:custClr name="Grau 5">
      <a:srgbClr val="EBEBEB"/>
    </a:custClr>
  </a:custClrLst>
  <a:extLst>
    <a:ext uri="{05A4C25C-085E-4340-85A3-A5531E510DB2}">
      <thm15:themeFamily xmlns:thm15="http://schemas.microsoft.com/office/thememl/2012/main" name="DLR-PPT-Master_1.30_EN.pptx" id="{6250988B-F8D4-4672-99CB-10E86376C3D6}" vid="{13BA9046-8FD7-4B45-83ED-4CF3CC1D07E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DLR_Präsentation_16zu9_EN</Template>
  <TotalTime>0</TotalTime>
  <Words>429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</vt:lpstr>
      <vt:lpstr>RANS: Evidence for Multiple Solutions</vt:lpstr>
      <vt:lpstr>Differences in Stall</vt:lpstr>
      <vt:lpstr>Differences in stall</vt:lpstr>
      <vt:lpstr>Spatial convergence at 25 degrees</vt:lpstr>
      <vt:lpstr>Alpha-continuation from perturbed solutions</vt:lpstr>
      <vt:lpstr>Main Take-aways</vt:lpstr>
      <vt:lpstr>Ideas (for a Vision) for dealing with multiple solutions</vt:lpstr>
    </vt:vector>
  </TitlesOfParts>
  <Company>DLR e.V.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Wegener, Malte</dc:creator>
  <cp:lastModifiedBy>Wegener, Malte</cp:lastModifiedBy>
  <cp:revision>16</cp:revision>
  <dcterms:created xsi:type="dcterms:W3CDTF">2026-05-21T10:08:08Z</dcterms:created>
  <dcterms:modified xsi:type="dcterms:W3CDTF">2026-05-28T13:33:05Z</dcterms:modified>
</cp:coreProperties>
</file>